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4" d="100"/>
          <a:sy n="94" d="100"/>
        </p:scale>
        <p:origin x="660" y="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10/29/2026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8869680" y="-731520"/>
            <a:ext cx="4389120" cy="4389120"/>
          </a:xfrm>
          <a:prstGeom prst="ellipse">
            <a:avLst/>
          </a:prstGeom>
          <a:solidFill>
            <a:srgbClr val="1D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92640" y="3474720"/>
            <a:ext cx="2743200" cy="2743200"/>
          </a:xfrm>
          <a:prstGeom prst="ellipse">
            <a:avLst/>
          </a:prstGeom>
          <a:solidFill>
            <a:srgbClr val="164E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7498079" cy="128016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Medical Data</a:t>
            </a:r>
          </a:p>
          <a:p>
            <a:pPr algn="l">
              <a:spcAft>
                <a:spcPts val="400"/>
              </a:spcAft>
              <a:defRPr sz="4000" b="1">
                <a:solidFill>
                  <a:srgbClr val="FFFFFF"/>
                </a:solidFill>
                <a:latin typeface="Aptos"/>
              </a:defRPr>
            </a:pPr>
            <a:r>
              <a:t>History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971800"/>
            <a:ext cx="6675120" cy="82296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900" b="0">
                <a:solidFill>
                  <a:srgbClr val="E2E8F0"/>
                </a:solidFill>
                <a:latin typeface="Aptos"/>
              </a:defRPr>
            </a:pPr>
            <a:r>
              <a:rPr dirty="0"/>
              <a:t>Exploring patient records, admissions, diagnoses, and healthcare data with MySQL.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68680" y="4160520"/>
            <a:ext cx="1481328" cy="41148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4242816"/>
            <a:ext cx="1481328" cy="1828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MySQL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560320" y="4160520"/>
            <a:ext cx="1481328" cy="411480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560320" y="4242816"/>
            <a:ext cx="1481328" cy="1828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Data querying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4160520"/>
            <a:ext cx="1481328" cy="41148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251960" y="4242816"/>
            <a:ext cx="1481328" cy="1828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ctr">
              <a:spcAft>
                <a:spcPts val="400"/>
              </a:spcAft>
              <a:defRPr sz="1100" b="1">
                <a:solidFill>
                  <a:srgbClr val="FFFFFF"/>
                </a:solidFill>
                <a:latin typeface="Aptos"/>
              </a:defRPr>
            </a:pPr>
            <a:r>
              <a:t>Relational joins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22440"/>
                </a:solidFill>
                <a:latin typeface="Aptos"/>
              </a:defRPr>
            </a:pPr>
            <a:r>
              <a:t>01 | Project Overview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18288"/>
          </a:xfrm>
          <a:prstGeom prst="rect">
            <a:avLst/>
          </a:prstGeom>
          <a:solidFill>
            <a:srgbClr val="D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64748B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14630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85800" y="1463040"/>
            <a:ext cx="73152" cy="14173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68680" y="1581912"/>
            <a:ext cx="310896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440"/>
                </a:solidFill>
                <a:latin typeface="Aptos"/>
              </a:defRPr>
            </a:pPr>
            <a:r>
              <a:t>Project goal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65960"/>
            <a:ext cx="3081528" cy="850392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Use SQL to retrieve, filter, summarize, and connect healthcare records.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630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463040"/>
            <a:ext cx="73152" cy="14173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581912"/>
            <a:ext cx="310896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440"/>
                </a:solidFill>
                <a:latin typeface="Aptos"/>
              </a:defRPr>
            </a:pPr>
            <a:r>
              <a:t>Data focus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65960"/>
            <a:ext cx="3081528" cy="850392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Patients, admissions, diagnoses, doctors, and province information.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63040"/>
            <a:ext cx="342900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463040"/>
            <a:ext cx="73152" cy="14173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19" y="1581912"/>
            <a:ext cx="310896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440"/>
                </a:solidFill>
                <a:latin typeface="Aptos"/>
              </a:defRPr>
            </a:pPr>
            <a:r>
              <a:t>Deliverable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1965960"/>
            <a:ext cx="3081528" cy="850392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A reusable SQL script answering 34 supplied problem statements.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337560"/>
            <a:ext cx="457200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122440"/>
                </a:solidFill>
                <a:latin typeface="Aptos"/>
              </a:defRPr>
            </a:pPr>
            <a:r>
              <a:t>Core objectives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3749039"/>
            <a:ext cx="5029200" cy="20574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•  Retrieve patient details using conditions and patterns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•  Count admissions and summarize demographics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•  Join tables for province and doctor information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•  Apply grouping, sorting, string functions, and calculations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0" y="3337560"/>
            <a:ext cx="457200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122440"/>
                </a:solidFill>
                <a:latin typeface="Aptos"/>
              </a:defRPr>
            </a:pPr>
            <a:r>
              <a:t>SQL skills demonstrated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749039"/>
            <a:ext cx="5029200" cy="20574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•  SELECT, WHERE, LIKE, BETWEEN, IN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•  COUNT, SUM, MAX, MIN, GROUP BY, HAVING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•  JOIN, UNION ALL, CASE, CONCAT, YEAR, DAY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•  Data modification using UPDATE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22440"/>
                </a:solidFill>
                <a:latin typeface="Aptos"/>
              </a:defRPr>
            </a:pPr>
            <a:r>
              <a:t>02 | Dataset &amp; Relational Schema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18288"/>
          </a:xfrm>
          <a:prstGeom prst="rect">
            <a:avLst/>
          </a:prstGeom>
          <a:solidFill>
            <a:srgbClr val="D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64748B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640080" y="1417320"/>
            <a:ext cx="73152" cy="15544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822959" y="1536192"/>
            <a:ext cx="2240279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440"/>
                </a:solidFill>
                <a:latin typeface="Aptos"/>
              </a:defRPr>
            </a:pPr>
            <a:r>
              <a:t>patients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1920240"/>
            <a:ext cx="2212848" cy="987552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ptos"/>
              </a:defRPr>
            </a:pPr>
            <a:r>
              <a:t>patient_id • first_name • last_name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ptos"/>
              </a:defRPr>
            </a:pPr>
            <a:r>
              <a:t>gender • birth_date • city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ptos"/>
              </a:defRPr>
            </a:pPr>
            <a:r>
              <a:t>allergies • height • weight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1E293B"/>
                </a:solidFill>
                <a:latin typeface="Aptos"/>
              </a:defRPr>
            </a:pPr>
            <a:r>
              <a:t>province_id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41732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474720" y="1417320"/>
            <a:ext cx="73152" cy="155448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657600" y="1536192"/>
            <a:ext cx="2240279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440"/>
                </a:solidFill>
                <a:latin typeface="Aptos"/>
              </a:defRPr>
            </a:pPr>
            <a:r>
              <a:t>admissions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0" y="1920240"/>
            <a:ext cx="2212848" cy="987552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E293B"/>
                </a:solidFill>
                <a:latin typeface="Aptos"/>
              </a:defRPr>
            </a:pPr>
            <a:r>
              <a:t>patient_id • admission_date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E293B"/>
                </a:solidFill>
                <a:latin typeface="Aptos"/>
              </a:defRPr>
            </a:pPr>
            <a:r>
              <a:t>discharge_date • diagnosis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E293B"/>
                </a:solidFill>
                <a:latin typeface="Aptos"/>
              </a:defRPr>
            </a:pPr>
            <a:r>
              <a:t>attending_doctor_id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1417320"/>
            <a:ext cx="228600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09360" y="1417320"/>
            <a:ext cx="73152" cy="15544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492240" y="1536192"/>
            <a:ext cx="196596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440"/>
                </a:solidFill>
                <a:latin typeface="Aptos"/>
              </a:defRPr>
            </a:pPr>
            <a:r>
              <a:t>doctors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1920240"/>
            <a:ext cx="1938528" cy="987552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E293B"/>
                </a:solidFill>
                <a:latin typeface="Aptos"/>
              </a:defRPr>
            </a:pPr>
            <a:r>
              <a:t>doctor_id • first_name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E293B"/>
                </a:solidFill>
                <a:latin typeface="Aptos"/>
              </a:defRPr>
            </a:pPr>
            <a:r>
              <a:t>last_name • specialty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61120" y="1417320"/>
            <a:ext cx="2560320" cy="155448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961120" y="1417320"/>
            <a:ext cx="73152" cy="155448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144000" y="1536192"/>
            <a:ext cx="2240279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440"/>
                </a:solidFill>
                <a:latin typeface="Aptos"/>
              </a:defRPr>
            </a:pPr>
            <a:r>
              <a:t>province_names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1920240"/>
            <a:ext cx="2212848" cy="987552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E293B"/>
                </a:solidFill>
                <a:latin typeface="Aptos"/>
              </a:defRPr>
            </a:pPr>
            <a:r>
              <a:t>province_id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1E293B"/>
                </a:solidFill>
                <a:latin typeface="Aptos"/>
              </a:defRPr>
            </a:pPr>
            <a:r>
              <a:t>province_name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3474720"/>
            <a:ext cx="1005840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900" b="1">
                <a:solidFill>
                  <a:srgbClr val="122440"/>
                </a:solidFill>
                <a:latin typeface="Aptos"/>
              </a:defRPr>
            </a:pPr>
            <a:r>
              <a:t>Key relationships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" y="3886200"/>
            <a:ext cx="10515600" cy="150876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E293B"/>
                </a:solidFill>
                <a:latin typeface="Aptos"/>
              </a:defRPr>
            </a:pPr>
            <a:r>
              <a:t>•  patients.patient_id → admissions.patient_id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293B"/>
                </a:solidFill>
                <a:latin typeface="Aptos"/>
              </a:defRPr>
            </a:pPr>
            <a:r>
              <a:t>•  admissions.attending_doctor_id → doctors.doctor_id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293B"/>
                </a:solidFill>
                <a:latin typeface="Aptos"/>
              </a:defRPr>
            </a:pPr>
            <a:r>
              <a:t>•  patients.province_id → province_names.province_id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22440"/>
                </a:solidFill>
                <a:latin typeface="Aptos"/>
              </a:defRPr>
            </a:pPr>
            <a:r>
              <a:rPr dirty="0"/>
              <a:t>03 | Methodology &amp; Workflow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18288"/>
          </a:xfrm>
          <a:prstGeom prst="rect">
            <a:avLst/>
          </a:prstGeom>
          <a:solidFill>
            <a:srgbClr val="D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64748B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7" name="Oval 6"/>
          <p:cNvSpPr/>
          <p:nvPr/>
        </p:nvSpPr>
        <p:spPr>
          <a:xfrm>
            <a:off x="1216152" y="1645920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16152" y="1819656"/>
            <a:ext cx="594360" cy="1828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423160"/>
            <a:ext cx="182880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22440"/>
                </a:solidFill>
                <a:latin typeface="Aptos"/>
              </a:defRPr>
            </a:pPr>
            <a:r>
              <a:t>Connect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" y="2880360"/>
            <a:ext cx="1965960" cy="10972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1E293B"/>
                </a:solidFill>
                <a:latin typeface="Aptos"/>
              </a:defRPr>
            </a:pPr>
            <a:r>
              <a:t>Open the project database in MySQL Workbench.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856231" y="1947672"/>
            <a:ext cx="1005841" cy="0"/>
          </a:xfrm>
          <a:prstGeom prst="line">
            <a:avLst/>
          </a:prstGeom>
          <a:ln w="25400">
            <a:solidFill>
              <a:srgbClr val="DB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3547872" y="1645920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547872" y="1819656"/>
            <a:ext cx="594360" cy="1828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79" y="2423160"/>
            <a:ext cx="182880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22440"/>
                </a:solidFill>
                <a:latin typeface="Aptos"/>
              </a:defRPr>
            </a:pPr>
            <a:r>
              <a:t>Inspect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52927" y="2880360"/>
            <a:ext cx="1965960" cy="10972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1E293B"/>
                </a:solidFill>
                <a:latin typeface="Aptos"/>
              </a:defRPr>
            </a:pPr>
            <a:r>
              <a:t>Review table names, fields, and relationships.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187952" y="1947672"/>
            <a:ext cx="1005840" cy="0"/>
          </a:xfrm>
          <a:prstGeom prst="line">
            <a:avLst/>
          </a:prstGeom>
          <a:ln w="25400">
            <a:solidFill>
              <a:srgbClr val="DB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5879592" y="1645920"/>
            <a:ext cx="594360" cy="594360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879592" y="1819656"/>
            <a:ext cx="594360" cy="1828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57800" y="2423160"/>
            <a:ext cx="182880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22440"/>
                </a:solidFill>
                <a:latin typeface="Aptos"/>
              </a:defRPr>
            </a:pPr>
            <a:r>
              <a:t>Query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84648" y="2880360"/>
            <a:ext cx="1965960" cy="10972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1E293B"/>
                </a:solidFill>
                <a:latin typeface="Aptos"/>
              </a:defRPr>
            </a:pPr>
            <a:r>
              <a:t>Run the 34 SQL statements against required tables.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519672" y="1947672"/>
            <a:ext cx="1005840" cy="0"/>
          </a:xfrm>
          <a:prstGeom prst="line">
            <a:avLst/>
          </a:prstGeom>
          <a:ln w="25400">
            <a:solidFill>
              <a:srgbClr val="DB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Oval 21"/>
          <p:cNvSpPr/>
          <p:nvPr/>
        </p:nvSpPr>
        <p:spPr>
          <a:xfrm>
            <a:off x="8211311" y="1645920"/>
            <a:ext cx="594360" cy="5943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211311" y="1819656"/>
            <a:ext cx="594360" cy="1828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89519" y="2423160"/>
            <a:ext cx="182880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22440"/>
                </a:solidFill>
                <a:latin typeface="Aptos"/>
              </a:defRPr>
            </a:pPr>
            <a:r>
              <a:t>Validate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516367" y="2880360"/>
            <a:ext cx="1965960" cy="10972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1E293B"/>
                </a:solidFill>
                <a:latin typeface="Aptos"/>
              </a:defRPr>
            </a:pPr>
            <a:r>
              <a:t>Check result grids and resolve errors.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8851392" y="1947672"/>
            <a:ext cx="1005840" cy="0"/>
          </a:xfrm>
          <a:prstGeom prst="line">
            <a:avLst/>
          </a:prstGeom>
          <a:ln w="25400">
            <a:solidFill>
              <a:srgbClr val="DBE4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0543032" y="1645920"/>
            <a:ext cx="594360" cy="594360"/>
          </a:xfrm>
          <a:prstGeom prst="ellipse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10543032" y="1819656"/>
            <a:ext cx="594360" cy="1828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ctr">
              <a:spcAft>
                <a:spcPts val="400"/>
              </a:spcAft>
              <a:defRPr sz="130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21240" y="2423160"/>
            <a:ext cx="182880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ctr">
              <a:spcAft>
                <a:spcPts val="400"/>
              </a:spcAft>
              <a:defRPr sz="1600" b="1">
                <a:solidFill>
                  <a:srgbClr val="122440"/>
                </a:solidFill>
                <a:latin typeface="Aptos"/>
              </a:defRPr>
            </a:pPr>
            <a:r>
              <a:t>Package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48088" y="2880360"/>
            <a:ext cx="1965960" cy="10972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ctr">
              <a:spcAft>
                <a:spcPts val="400"/>
              </a:spcAft>
              <a:defRPr sz="1200" b="0">
                <a:solidFill>
                  <a:srgbClr val="1E293B"/>
                </a:solidFill>
                <a:latin typeface="Aptos"/>
              </a:defRPr>
            </a:pPr>
            <a:r>
              <a:t>Save the script and prepare a ZIP for submission.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4663440"/>
            <a:ext cx="10332720" cy="96012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914400" y="4663440"/>
            <a:ext cx="73152" cy="96012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097280" y="4782312"/>
            <a:ext cx="1001268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440"/>
                </a:solidFill>
                <a:latin typeface="Aptos"/>
              </a:defRPr>
            </a:pPr>
            <a:r>
              <a:t>Validation principle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166359"/>
            <a:ext cx="9985248" cy="393192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A successful query should return the expected columns and rows. Access-denied errors should be documented and referred to the administrator.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22440"/>
                </a:solidFill>
                <a:latin typeface="Aptos"/>
              </a:defRPr>
            </a:pPr>
            <a:r>
              <a:t>04 | Query Group 1: Patient Filtering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18288"/>
          </a:xfrm>
          <a:prstGeom prst="rect">
            <a:avLst/>
          </a:prstGeom>
          <a:solidFill>
            <a:srgbClr val="D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64748B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463040"/>
            <a:ext cx="4846320" cy="347472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1E293B"/>
                </a:solidFill>
                <a:latin typeface="Aptos"/>
              </a:defRPr>
            </a:pPr>
            <a:r>
              <a:t>•  Filter male patients (gender = 'M')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293B"/>
                </a:solidFill>
                <a:latin typeface="Aptos"/>
              </a:defRPr>
            </a:pPr>
            <a:r>
              <a:t>•  Find patients with NULL allergies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293B"/>
                </a:solidFill>
                <a:latin typeface="Aptos"/>
              </a:defRPr>
            </a:pPr>
            <a:r>
              <a:t>•  Find first names beginning with C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293B"/>
                </a:solidFill>
                <a:latin typeface="Aptos"/>
              </a:defRPr>
            </a:pPr>
            <a:r>
              <a:t>•  Filter weight from 100 to 120 inclusive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1E293B"/>
                </a:solidFill>
                <a:latin typeface="Aptos"/>
              </a:defRPr>
            </a:pPr>
            <a:r>
              <a:t>•  Replace NULL allergies with 'NKA' using UPDATE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52160" y="1554480"/>
            <a:ext cx="5440680" cy="1645920"/>
          </a:xfrm>
          <a:prstGeom prst="roundRect">
            <a:avLst/>
          </a:prstGeom>
          <a:solidFill>
            <a:srgbClr val="122440"/>
          </a:solidFill>
          <a:ln>
            <a:solidFill>
              <a:srgbClr val="12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998464" y="1664207"/>
            <a:ext cx="5166360" cy="1463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E2E8F0"/>
                </a:solidFill>
                <a:latin typeface="Consolas"/>
              </a:defRPr>
            </a:pPr>
            <a:r>
              <a:t>SELECT first_name, last_name, gender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E2E8F0"/>
                </a:solidFill>
                <a:latin typeface="Consolas"/>
              </a:defRPr>
            </a:pPr>
            <a:r>
              <a:t>FROM patients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E2E8F0"/>
                </a:solidFill>
                <a:latin typeface="Consolas"/>
              </a:defRPr>
            </a:pPr>
            <a:r>
              <a:t>WHERE gender = 'M';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52160" y="3474720"/>
            <a:ext cx="5440680" cy="1463040"/>
          </a:xfrm>
          <a:prstGeom prst="roundRect">
            <a:avLst/>
          </a:prstGeom>
          <a:solidFill>
            <a:srgbClr val="122440"/>
          </a:solidFill>
          <a:ln>
            <a:solidFill>
              <a:srgbClr val="12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98464" y="3584448"/>
            <a:ext cx="5166360" cy="128016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2E8F0"/>
                </a:solidFill>
                <a:latin typeface="Consolas"/>
              </a:defRPr>
            </a:pPr>
            <a:r>
              <a:t>UPDATE patients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E2E8F0"/>
                </a:solidFill>
                <a:latin typeface="Consolas"/>
              </a:defRPr>
            </a:pPr>
            <a:r>
              <a:t>SET allergies = 'NKA'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E2E8F0"/>
                </a:solidFill>
                <a:latin typeface="Consolas"/>
              </a:defRPr>
            </a:pPr>
            <a:r>
              <a:t>WHERE allergies IS NULL;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22440"/>
                </a:solidFill>
                <a:latin typeface="Aptos"/>
              </a:defRPr>
            </a:pPr>
            <a:r>
              <a:t>05 | Query Group 2: Patient Details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18288"/>
          </a:xfrm>
          <a:prstGeom prst="rect">
            <a:avLst/>
          </a:prstGeom>
          <a:solidFill>
            <a:srgbClr val="D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64748B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83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73152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536192"/>
            <a:ext cx="306324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440"/>
                </a:solidFill>
                <a:latin typeface="Aptos"/>
              </a:defRPr>
            </a:pPr>
            <a:r>
              <a:t>Full name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3035808" cy="713231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CONCAT(first_name, ' ', last_name)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383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73152" cy="1280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536192"/>
            <a:ext cx="306324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440"/>
                </a:solidFill>
                <a:latin typeface="Aptos"/>
              </a:defRPr>
            </a:pPr>
            <a:r>
              <a:t>Province lookup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20240"/>
            <a:ext cx="3035808" cy="713231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JOIN patients to province_names on province_id.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383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536192"/>
            <a:ext cx="306324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440"/>
                </a:solidFill>
                <a:latin typeface="Aptos"/>
              </a:defRPr>
            </a:pPr>
            <a:r>
              <a:t>Patient filters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920240"/>
            <a:ext cx="3035808" cy="713231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Birth year 2010, maximum height, and selected IDs.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154680"/>
            <a:ext cx="493776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22440"/>
                </a:solidFill>
                <a:latin typeface="Aptos"/>
              </a:defRPr>
            </a:pPr>
            <a:r>
              <a:t>Example: province join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566160"/>
            <a:ext cx="6309360" cy="1600200"/>
          </a:xfrm>
          <a:prstGeom prst="roundRect">
            <a:avLst/>
          </a:prstGeom>
          <a:solidFill>
            <a:srgbClr val="122440"/>
          </a:solidFill>
          <a:ln>
            <a:solidFill>
              <a:srgbClr val="12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9264" y="3675887"/>
            <a:ext cx="6035040" cy="141732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SELECT p.first_name, p.last_name, pn.province_name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FROM patients AS p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JOIN province_names AS pn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  ON p.province_id = pn.province_id;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3200400"/>
            <a:ext cx="384048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22440"/>
                </a:solidFill>
                <a:latin typeface="Aptos"/>
              </a:defRPr>
            </a:pPr>
            <a:r>
              <a:t>Output examples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611880"/>
            <a:ext cx="3840480" cy="18288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•  Patient names and attributes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•  Count born in 2010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•  Patient(s) with greatest height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•  Rows matching selected patient IDs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22440"/>
                </a:solidFill>
                <a:latin typeface="Aptos"/>
              </a:defRPr>
            </a:pPr>
            <a:r>
              <a:t>06 | Query Group 3: Admissions &amp; Conditions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18288"/>
          </a:xfrm>
          <a:prstGeom prst="rect">
            <a:avLst/>
          </a:prstGeom>
          <a:solidFill>
            <a:srgbClr val="D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64748B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383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73152" cy="128016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536192"/>
            <a:ext cx="306324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440"/>
                </a:solidFill>
                <a:latin typeface="Aptos"/>
              </a:defRPr>
            </a:pPr>
            <a:r>
              <a:t>Admission volume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3035808" cy="713231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COUNT(*) returns total number of admissions.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383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73152" cy="128016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536192"/>
            <a:ext cx="306324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440"/>
                </a:solidFill>
                <a:latin typeface="Aptos"/>
              </a:defRPr>
            </a:pPr>
            <a:r>
              <a:t>Same-day stays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20240"/>
            <a:ext cx="3035808" cy="713231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Compare admission_date with discharge_date.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38328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73152" cy="12801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536192"/>
            <a:ext cx="306324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440"/>
                </a:solidFill>
                <a:latin typeface="Aptos"/>
              </a:defRPr>
            </a:pPr>
            <a:r>
              <a:t>Patient conditions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920240"/>
            <a:ext cx="3035808" cy="713231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1E293B"/>
                </a:solidFill>
                <a:latin typeface="Aptos"/>
              </a:defRPr>
            </a:pPr>
            <a:r>
              <a:t>Count admissions for patient 579; filter by height and weight.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154680"/>
            <a:ext cx="484632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22440"/>
                </a:solidFill>
                <a:latin typeface="Aptos"/>
              </a:defRPr>
            </a:pPr>
            <a:r>
              <a:t>Example: total admissions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566160"/>
            <a:ext cx="4800600" cy="1371600"/>
          </a:xfrm>
          <a:prstGeom prst="roundRect">
            <a:avLst/>
          </a:prstGeom>
          <a:solidFill>
            <a:srgbClr val="122440"/>
          </a:solidFill>
          <a:ln>
            <a:solidFill>
              <a:srgbClr val="12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9264" y="3675887"/>
            <a:ext cx="4526280" cy="118872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E2E8F0"/>
                </a:solidFill>
                <a:latin typeface="Consolas"/>
              </a:defRPr>
            </a:pPr>
            <a:r>
              <a:t>SELECT COUNT(*) AS total_admissions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E2E8F0"/>
                </a:solidFill>
                <a:latin typeface="Consolas"/>
              </a:defRPr>
            </a:pPr>
            <a:r>
              <a:t>FROM admissions;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26480" y="3154680"/>
            <a:ext cx="484632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22440"/>
                </a:solidFill>
                <a:latin typeface="Aptos"/>
              </a:defRPr>
            </a:pPr>
            <a:r>
              <a:t>Example: same-day admission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26480" y="3566160"/>
            <a:ext cx="5074920" cy="1371600"/>
          </a:xfrm>
          <a:prstGeom prst="roundRect">
            <a:avLst/>
          </a:prstGeom>
          <a:solidFill>
            <a:srgbClr val="122440"/>
          </a:solidFill>
          <a:ln>
            <a:solidFill>
              <a:srgbClr val="12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272784" y="3675887"/>
            <a:ext cx="4800600" cy="118872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2E8F0"/>
                </a:solidFill>
                <a:latin typeface="Consolas"/>
              </a:defRPr>
            </a:pPr>
            <a:r>
              <a:t>SELECT *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E2E8F0"/>
                </a:solidFill>
                <a:latin typeface="Consolas"/>
              </a:defRPr>
            </a:pPr>
            <a:r>
              <a:t>FROM admissions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E2E8F0"/>
                </a:solidFill>
                <a:latin typeface="Consolas"/>
              </a:defRPr>
            </a:pPr>
            <a:r>
              <a:t>WHERE admission_date = discharge_date;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22440"/>
                </a:solidFill>
                <a:latin typeface="Aptos"/>
              </a:defRPr>
            </a:pPr>
            <a:r>
              <a:t>07 | Query Group 4: Demographics &amp; Aggregation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18288"/>
          </a:xfrm>
          <a:prstGeom prst="rect">
            <a:avLst/>
          </a:prstGeom>
          <a:solidFill>
            <a:srgbClr val="D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64748B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417320"/>
            <a:ext cx="4800600" cy="448056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•  Distinct birth years sorted ascending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•  First names occurring exactly once using HAVING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•  Names starting and ending with s, at least six characters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•  Sort names by length, then alphabetically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•  Male and female counts in the same result row</a:t>
            </a:r>
          </a:p>
          <a:p>
            <a:pPr algn="l">
              <a:spcAft>
                <a:spcPts val="400"/>
              </a:spcAft>
              <a:defRPr sz="1400" b="0">
                <a:solidFill>
                  <a:srgbClr val="1E293B"/>
                </a:solidFill>
                <a:latin typeface="Aptos"/>
              </a:defRPr>
            </a:pPr>
            <a:r>
              <a:t>•  Question 22 repeats Question 21 in the assignment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897880" y="1554480"/>
            <a:ext cx="5349240" cy="1508760"/>
          </a:xfrm>
          <a:prstGeom prst="roundRect">
            <a:avLst/>
          </a:prstGeom>
          <a:solidFill>
            <a:srgbClr val="122440"/>
          </a:solidFill>
          <a:ln>
            <a:solidFill>
              <a:srgbClr val="12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44184" y="1664207"/>
            <a:ext cx="5074920" cy="13258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300" b="0">
                <a:solidFill>
                  <a:srgbClr val="E2E8F0"/>
                </a:solidFill>
                <a:latin typeface="Consolas"/>
              </a:defRPr>
            </a:pPr>
            <a:r>
              <a:t>SELECT first_name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E2E8F0"/>
                </a:solidFill>
                <a:latin typeface="Consolas"/>
              </a:defRPr>
            </a:pPr>
            <a:r>
              <a:t>FROM patients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E2E8F0"/>
                </a:solidFill>
                <a:latin typeface="Consolas"/>
              </a:defRPr>
            </a:pPr>
            <a:r>
              <a:t>GROUP BY first_name</a:t>
            </a:r>
          </a:p>
          <a:p>
            <a:pPr algn="l">
              <a:spcAft>
                <a:spcPts val="400"/>
              </a:spcAft>
              <a:defRPr sz="1300" b="0">
                <a:solidFill>
                  <a:srgbClr val="E2E8F0"/>
                </a:solidFill>
                <a:latin typeface="Consolas"/>
              </a:defRPr>
            </a:pPr>
            <a:r>
              <a:t>HAVING COUNT(*) = 1;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897880" y="3383280"/>
            <a:ext cx="5349240" cy="1874519"/>
          </a:xfrm>
          <a:prstGeom prst="roundRect">
            <a:avLst/>
          </a:prstGeom>
          <a:solidFill>
            <a:srgbClr val="122440"/>
          </a:solidFill>
          <a:ln>
            <a:solidFill>
              <a:srgbClr val="12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044184" y="3493008"/>
            <a:ext cx="5074920" cy="1691639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E2E8F0"/>
                </a:solidFill>
                <a:latin typeface="Consolas"/>
              </a:defRPr>
            </a:pPr>
            <a:r>
              <a:t>SELECT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E2E8F0"/>
                </a:solidFill>
                <a:latin typeface="Consolas"/>
              </a:defRPr>
            </a:pPr>
            <a:r>
              <a:t> SUM(CASE WHEN gender='M' THEN 1 ELSE 0 END) AS male_patients,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E2E8F0"/>
                </a:solidFill>
                <a:latin typeface="Consolas"/>
              </a:defRPr>
            </a:pPr>
            <a:r>
              <a:t> SUM(CASE WHEN gender='F' THEN 1 ELSE 0 END) AS female_patients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E2E8F0"/>
                </a:solidFill>
                <a:latin typeface="Consolas"/>
              </a:defRPr>
            </a:pPr>
            <a:r>
              <a:t>FROM patients;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22440"/>
                </a:solidFill>
                <a:latin typeface="Aptos"/>
              </a:defRPr>
            </a:pPr>
            <a:r>
              <a:t>08 | Query Group 5: Diagnosis &amp; Summaries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18288"/>
          </a:xfrm>
          <a:prstGeom prst="rect">
            <a:avLst/>
          </a:prstGeom>
          <a:solidFill>
            <a:srgbClr val="D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64748B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4173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417320"/>
            <a:ext cx="73152" cy="123444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536192"/>
            <a:ext cx="310896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440"/>
                </a:solidFill>
                <a:latin typeface="Aptos"/>
              </a:defRPr>
            </a:pPr>
            <a:r>
              <a:t>Repeat diagnoses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20240"/>
            <a:ext cx="3081528" cy="667512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E293B"/>
                </a:solidFill>
                <a:latin typeface="Aptos"/>
              </a:defRPr>
            </a:pPr>
            <a:r>
              <a:t>GROUP BY patient_id and diagnosis; HAVING COUNT(*) &gt; 1.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4173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417320"/>
            <a:ext cx="73152" cy="123444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536192"/>
            <a:ext cx="310896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440"/>
                </a:solidFill>
                <a:latin typeface="Aptos"/>
              </a:defRPr>
            </a:pPr>
            <a:r>
              <a:t>City &amp; allergy counts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920240"/>
            <a:ext cx="3081528" cy="667512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E293B"/>
                </a:solidFill>
                <a:latin typeface="Aptos"/>
              </a:defRPr>
            </a:pPr>
            <a:r>
              <a:t>Count patients by city and allergies; sort by frequency.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417320"/>
            <a:ext cx="342900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417320"/>
            <a:ext cx="73152" cy="123444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536192"/>
            <a:ext cx="310896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440"/>
                </a:solidFill>
                <a:latin typeface="Aptos"/>
              </a:defRPr>
            </a:pPr>
            <a:r>
              <a:t>Date &amp; name formatting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920240"/>
            <a:ext cx="3081528" cy="667512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E293B"/>
                </a:solidFill>
                <a:latin typeface="Aptos"/>
              </a:defRPr>
            </a:pPr>
            <a:r>
              <a:t>1970s births, name casing, and Maroni weight difference.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3063240"/>
            <a:ext cx="493776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22440"/>
                </a:solidFill>
                <a:latin typeface="Aptos"/>
              </a:defRPr>
            </a:pPr>
            <a:r>
              <a:t>Example: repeat diagnoses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474720"/>
            <a:ext cx="5166360" cy="1508760"/>
          </a:xfrm>
          <a:prstGeom prst="roundRect">
            <a:avLst/>
          </a:prstGeom>
          <a:solidFill>
            <a:srgbClr val="122440"/>
          </a:solidFill>
          <a:ln>
            <a:solidFill>
              <a:srgbClr val="12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9264" y="3584448"/>
            <a:ext cx="4892040" cy="13258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100" b="0">
                <a:solidFill>
                  <a:srgbClr val="E2E8F0"/>
                </a:solidFill>
                <a:latin typeface="Consolas"/>
              </a:defRPr>
            </a:pPr>
            <a:r>
              <a:t>SELECT patient_id, diagnosis, COUNT(*) AS admission_count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E2E8F0"/>
                </a:solidFill>
                <a:latin typeface="Consolas"/>
              </a:defRPr>
            </a:pPr>
            <a:r>
              <a:t>FROM admissions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E2E8F0"/>
                </a:solidFill>
                <a:latin typeface="Consolas"/>
              </a:defRPr>
            </a:pPr>
            <a:r>
              <a:t>GROUP BY patient_id, diagnosis</a:t>
            </a:r>
          </a:p>
          <a:p>
            <a:pPr algn="l">
              <a:spcAft>
                <a:spcPts val="400"/>
              </a:spcAft>
              <a:defRPr sz="1100" b="0">
                <a:solidFill>
                  <a:srgbClr val="E2E8F0"/>
                </a:solidFill>
                <a:latin typeface="Consolas"/>
              </a:defRPr>
            </a:pPr>
            <a:r>
              <a:t>HAVING COUNT(*) &gt; 1;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63640" y="3063240"/>
            <a:ext cx="475488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800" b="1">
                <a:solidFill>
                  <a:srgbClr val="122440"/>
                </a:solidFill>
                <a:latin typeface="Aptos"/>
              </a:defRPr>
            </a:pPr>
            <a:r>
              <a:t>Example: province height total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63640" y="3474720"/>
            <a:ext cx="4983480" cy="1508760"/>
          </a:xfrm>
          <a:prstGeom prst="roundRect">
            <a:avLst/>
          </a:prstGeom>
          <a:solidFill>
            <a:srgbClr val="122440"/>
          </a:solidFill>
          <a:ln>
            <a:solidFill>
              <a:srgbClr val="12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09944" y="3584448"/>
            <a:ext cx="4709160" cy="13258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SELECT province_id, SUM(height) AS total_height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FROM patients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GROUP BY province_id</a:t>
            </a:r>
          </a:p>
          <a:p>
            <a:pPr algn="l">
              <a:spcAft>
                <a:spcPts val="400"/>
              </a:spcAft>
              <a:defRPr sz="1200" b="0">
                <a:solidFill>
                  <a:srgbClr val="E2E8F0"/>
                </a:solidFill>
                <a:latin typeface="Consolas"/>
              </a:defRPr>
            </a:pPr>
            <a:r>
              <a:t>HAVING SUM(height) &gt;= 7000;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94360" y="274320"/>
            <a:ext cx="10972800" cy="45720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2600" b="1">
                <a:solidFill>
                  <a:srgbClr val="122440"/>
                </a:solidFill>
                <a:latin typeface="Aptos"/>
              </a:defRPr>
            </a:pPr>
            <a:r>
              <a:t>09 | Query Group 6: Date, Weight &amp; Doctor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0972800" cy="18288"/>
          </a:xfrm>
          <a:prstGeom prst="rect">
            <a:avLst/>
          </a:prstGeom>
          <a:solidFill>
            <a:srgbClr val="D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1201400" y="6473952"/>
            <a:ext cx="457200" cy="1828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64748B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731520" y="1371600"/>
            <a:ext cx="73152" cy="118872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490472"/>
            <a:ext cx="310896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440"/>
                </a:solidFill>
                <a:latin typeface="Aptos"/>
              </a:defRPr>
            </a:pPr>
            <a:r>
              <a:t>Admission day counts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874519"/>
            <a:ext cx="3081528" cy="621792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E293B"/>
                </a:solidFill>
                <a:latin typeface="Aptos"/>
              </a:defRPr>
            </a:pPr>
            <a:r>
              <a:t>Generate day values 1–31 and LEFT JOIN to include zero-count days.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137160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89120" y="1371600"/>
            <a:ext cx="73152" cy="1188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0" y="1490472"/>
            <a:ext cx="310896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440"/>
                </a:solidFill>
                <a:latin typeface="Aptos"/>
              </a:defRPr>
            </a:pPr>
            <a:r>
              <a:t>Weight bands &amp; obesity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1874519"/>
            <a:ext cx="3081528" cy="621792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E293B"/>
                </a:solidFill>
                <a:latin typeface="Aptos"/>
              </a:defRPr>
            </a:pPr>
            <a:r>
              <a:t>Group weights by tens; calculate BMI from kg and metres.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1371600"/>
            <a:ext cx="342900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DBE4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46720" y="1371600"/>
            <a:ext cx="73152" cy="1188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29600" y="1490472"/>
            <a:ext cx="310896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600" b="1">
                <a:solidFill>
                  <a:srgbClr val="122440"/>
                </a:solidFill>
                <a:latin typeface="Aptos"/>
              </a:defRPr>
            </a:pPr>
            <a:r>
              <a:t>Epilepsy + Dr Lisa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874519"/>
            <a:ext cx="3081528" cy="621792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200" b="0">
                <a:solidFill>
                  <a:srgbClr val="1E293B"/>
                </a:solidFill>
                <a:latin typeface="Aptos"/>
              </a:defRPr>
            </a:pPr>
            <a:r>
              <a:t>Join patients, admissions, and doctors; filter diagnosis and doctor's first name.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2926080"/>
            <a:ext cx="489204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122440"/>
                </a:solidFill>
                <a:latin typeface="Aptos"/>
              </a:defRPr>
            </a:pPr>
            <a:r>
              <a:t>Question 31: include every day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2960" y="3337560"/>
            <a:ext cx="5212080" cy="1691640"/>
          </a:xfrm>
          <a:prstGeom prst="roundRect">
            <a:avLst/>
          </a:prstGeom>
          <a:solidFill>
            <a:srgbClr val="122440"/>
          </a:solidFill>
          <a:ln>
            <a:solidFill>
              <a:srgbClr val="12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9264" y="3447288"/>
            <a:ext cx="4937760" cy="150876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E2E8F0"/>
                </a:solidFill>
                <a:latin typeface="Consolas"/>
              </a:defRPr>
            </a:pPr>
            <a:r>
              <a:t>SELECT days.day_of_month,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E2E8F0"/>
                </a:solidFill>
                <a:latin typeface="Consolas"/>
              </a:defRPr>
            </a:pPr>
            <a:r>
              <a:t> COUNT(a.admission_date) AS admission_count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E2E8F0"/>
                </a:solidFill>
                <a:latin typeface="Consolas"/>
              </a:defRPr>
            </a:pPr>
            <a:r>
              <a:t>FROM ( /* numbers 1 through 31 */ ) AS days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E2E8F0"/>
                </a:solidFill>
                <a:latin typeface="Consolas"/>
              </a:defRPr>
            </a:pPr>
            <a:r>
              <a:t>LEFT JOIN admissions a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E2E8F0"/>
                </a:solidFill>
                <a:latin typeface="Consolas"/>
              </a:defRPr>
            </a:pPr>
            <a:r>
              <a:t> ON DAY(a.admission_date)=days.day_of_month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E2E8F0"/>
                </a:solidFill>
                <a:latin typeface="Consolas"/>
              </a:defRPr>
            </a:pPr>
            <a:r>
              <a:t>GROUP BY days.day_of_month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E2E8F0"/>
                </a:solidFill>
                <a:latin typeface="Consolas"/>
              </a:defRPr>
            </a:pPr>
            <a:r>
              <a:t>ORDER BY admission_count DESC;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926080"/>
            <a:ext cx="4846320" cy="32004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700" b="1">
                <a:solidFill>
                  <a:srgbClr val="122440"/>
                </a:solidFill>
                <a:latin typeface="Aptos"/>
              </a:defRPr>
            </a:pPr>
            <a:r>
              <a:t>Question 34: doctor specialty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309360" y="3337560"/>
            <a:ext cx="4937760" cy="1691640"/>
          </a:xfrm>
          <a:prstGeom prst="roundRect">
            <a:avLst/>
          </a:prstGeom>
          <a:solidFill>
            <a:srgbClr val="122440"/>
          </a:solidFill>
          <a:ln>
            <a:solidFill>
              <a:srgbClr val="1224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455664" y="3447288"/>
            <a:ext cx="4663440" cy="150876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000" b="0">
                <a:solidFill>
                  <a:srgbClr val="E2E8F0"/>
                </a:solidFill>
                <a:latin typeface="Consolas"/>
              </a:defRPr>
            </a:pPr>
            <a:r>
              <a:t>SELECT DISTINCT p.patient_id, p.first_name,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E2E8F0"/>
                </a:solidFill>
                <a:latin typeface="Consolas"/>
              </a:defRPr>
            </a:pPr>
            <a:r>
              <a:t> p.last_name, d.specialty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E2E8F0"/>
                </a:solidFill>
                <a:latin typeface="Consolas"/>
              </a:defRPr>
            </a:pPr>
            <a:r>
              <a:t>FROM patients p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E2E8F0"/>
                </a:solidFill>
                <a:latin typeface="Consolas"/>
              </a:defRPr>
            </a:pPr>
            <a:r>
              <a:t>JOIN admissions a ON p.patient_id=a.patient_id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E2E8F0"/>
                </a:solidFill>
                <a:latin typeface="Consolas"/>
              </a:defRPr>
            </a:pPr>
            <a:r>
              <a:t>JOIN doctors d ON a.attending_doctor_id=d.doctor_id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E2E8F0"/>
                </a:solidFill>
                <a:latin typeface="Consolas"/>
              </a:defRPr>
            </a:pPr>
            <a:r>
              <a:t>WHERE a.diagnosis='Epilepsy'</a:t>
            </a:r>
          </a:p>
          <a:p>
            <a:pPr algn="l">
              <a:spcAft>
                <a:spcPts val="400"/>
              </a:spcAft>
              <a:defRPr sz="1000" b="0">
                <a:solidFill>
                  <a:srgbClr val="E2E8F0"/>
                </a:solidFill>
                <a:latin typeface="Consolas"/>
              </a:defRPr>
            </a:pPr>
            <a:r>
              <a:t> AND d.first_name='Lisa';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24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77240" y="594360"/>
            <a:ext cx="10515600" cy="50292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2800" b="1">
                <a:solidFill>
                  <a:srgbClr val="FFFFFF"/>
                </a:solidFill>
                <a:latin typeface="Aptos"/>
              </a:defRPr>
            </a:pPr>
            <a:r>
              <a:rPr dirty="0"/>
              <a:t>10 | 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822960" y="1234440"/>
            <a:ext cx="10515600" cy="22860"/>
          </a:xfrm>
          <a:prstGeom prst="rect">
            <a:avLst/>
          </a:prstGeom>
          <a:solidFill>
            <a:srgbClr val="4766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68680" y="1645920"/>
            <a:ext cx="4937760" cy="36576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2000" b="1">
                <a:solidFill>
                  <a:srgbClr val="93C5FD"/>
                </a:solidFill>
                <a:latin typeface="Aptos"/>
              </a:defRPr>
            </a:pPr>
            <a: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79" y="2103120"/>
            <a:ext cx="7882467" cy="859723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l">
              <a:spcAft>
                <a:spcPts val="4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rPr dirty="0"/>
              <a:t>•  </a:t>
            </a:r>
            <a:r>
              <a:rPr lang="en-IN" dirty="0"/>
              <a:t>Practiced</a:t>
            </a:r>
            <a:r>
              <a:rPr dirty="0"/>
              <a:t> SQL problem statements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rPr dirty="0"/>
              <a:t>•  Applied filtering, aggregation, sorting, string functions, and joins</a:t>
            </a:r>
          </a:p>
          <a:p>
            <a:pPr algn="l">
              <a:spcAft>
                <a:spcPts val="400"/>
              </a:spcAft>
              <a:defRPr sz="1500" b="0">
                <a:solidFill>
                  <a:srgbClr val="FFFFFF"/>
                </a:solidFill>
                <a:latin typeface="Aptos"/>
              </a:defRPr>
            </a:pPr>
            <a:r>
              <a:rPr dirty="0"/>
              <a:t>•  Connected patient, admission, doctor, and province data</a:t>
            </a:r>
            <a:r>
              <a:rPr lang="en-IN" dirty="0"/>
              <a:t>.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868680" y="5212080"/>
            <a:ext cx="10469880" cy="685800"/>
          </a:xfrm>
          <a:prstGeom prst="round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005840" y="5376672"/>
            <a:ext cx="10149840" cy="27432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ctr">
              <a:spcAft>
                <a:spcPts val="400"/>
              </a:spcAft>
              <a:defRPr sz="2100" b="1">
                <a:solidFill>
                  <a:srgbClr val="FFFFFF"/>
                </a:solidFill>
                <a:latin typeface="Aptos"/>
              </a:defRPr>
            </a:pPr>
            <a:r>
              <a:t>Thank you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45720" tIns="36576" rIns="45720" bIns="27432">
            <a:spAutoFit/>
          </a:bodyPr>
          <a:lstStyle/>
          <a:p>
            <a:pPr algn="r">
              <a:spcAft>
                <a:spcPts val="400"/>
              </a:spcAft>
              <a:defRPr sz="1000" b="1">
                <a:solidFill>
                  <a:srgbClr val="CBD5E1"/>
                </a:solidFill>
                <a:latin typeface="Aptos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1122</Words>
  <Application>Microsoft Office PowerPoint</Application>
  <PresentationFormat>Widescreen</PresentationFormat>
  <Paragraphs>175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Medical Data History SQL Project</dc:title>
  <dc:subject>11-slide presentation based on the provided SQL script and project screenshots</dc:subject>
  <dc:creator>OpenAI</dc:creator>
  <cp:keywords/>
  <dc:description>generated using python-pptx</dc:description>
  <cp:lastModifiedBy>haris</cp:lastModifiedBy>
  <cp:revision>3</cp:revision>
  <dcterms:created xsi:type="dcterms:W3CDTF">2013-01-27T09:14:16Z</dcterms:created>
  <dcterms:modified xsi:type="dcterms:W3CDTF">2026-10-29T08:50:51Z</dcterms:modified>
  <cp:category/>
</cp:coreProperties>
</file>